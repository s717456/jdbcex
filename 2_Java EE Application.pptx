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3" r:id="rId3"/>
    <p:sldId id="274" r:id="rId4"/>
    <p:sldId id="271" r:id="rId5"/>
    <p:sldId id="270" r:id="rId6"/>
    <p:sldId id="272" r:id="rId7"/>
    <p:sldId id="260" r:id="rId8"/>
    <p:sldId id="257" r:id="rId9"/>
    <p:sldId id="258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79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00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532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9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45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12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0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00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5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98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287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3611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138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865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689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695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11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E6787-371E-4393-8EF1-632C9E227511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4D7AD-3A7A-4C01-85D6-70193CD88B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6768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hyperlink" Target="https://www.google.com/search?newwindow=1&amp;sca_esv=2eb456f1cafc7d15&amp;sxsrf=ANbL-n7Vjneh1--5Z5rVhlESCRUEuGDGEQ:1775797981794&amp;q=POST&amp;source=lnms&amp;fbs=ADc_l-Z6XGGbkKmpylZqg2J7ZOuVWcK7rihfmX8xtMF8_K7sjiSY_DiIpy-4R5YhkGRb76y4wZ1E2735e62M9vGNKpk1YfZ85VPR65I74YoIYB1PSs2XzVOjHskArrDNWZoukv0xvxcxIVw6JckHWg1OBQODpFp8T5BFQaSJhdGxDqeh-1dALyaWBxsbgaUCr3jgdPxGv8-iUfSjGUD21jZoBwEODYrKxg&amp;sa=X&amp;ved=2ahUKEwijhsycxOKTAxWzs1YBHTuEO_0QgK4QegQIBRAE&amp;biw=1280&amp;bih=631&amp;dpr=1.5&amp;mstk=AUtExfA5bxL_jYG5qDkxnZAsueREE9R9wmOWaRxH-0NeCZgZOvx8akbTjOURE53N_6OTeBbV269ymFsNu40ts_xaxqcKPCjWFCbG_FP9m5dWIuR40HjtEohtTuX8f_WE8yyWfELT_kvIo31HwjgFPdHEa9x92ucaiJUZopVbZTpmntQcsZqyeDzmZJLnp20YYXepLaK8kdG2GGaKR6YVtSIveqh07Qqpdbw0F1-LUcHo3uaQpmIINMXSHof592LJi1p-N82Jr36VF5XQg4AyZ67PZY1HKnQLQH02CNoqm8G107U_fg&amp;csui=3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6C2AFA-30B1-81DC-7F6A-CBB494038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EE Application</a:t>
            </a:r>
            <a:br>
              <a:rPr lang="en-US" altLang="zh-TW" dirty="0"/>
            </a:br>
            <a:r>
              <a:rPr lang="en-US" altLang="zh-TW" dirty="0"/>
              <a:t>1z0-900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325CC6-70F2-9FAD-F818-27A42C449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280922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4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D63B917-19AC-2990-4096-2F507C54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Web server</a:t>
            </a:r>
            <a:r>
              <a:rPr lang="zh-TW" altLang="en-US"/>
              <a:t>使用</a:t>
            </a:r>
            <a:r>
              <a:rPr lang="en-US" altLang="zh-TW"/>
              <a:t/>
            </a:r>
            <a:br>
              <a:rPr lang="en-US" altLang="zh-TW"/>
            </a:br>
            <a:r>
              <a:rPr lang="en-US" altLang="zh-TW"/>
              <a:t>Http</a:t>
            </a:r>
            <a:r>
              <a:rPr lang="zh-TW" altLang="en-US"/>
              <a:t>協定傳送與接收的方式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D77F945-B361-F101-DCDF-E0DFB4243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22" y="2336873"/>
            <a:ext cx="3489341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altLang="en-US" sz="1800" b="1"/>
              <a:t>建立連線 </a:t>
            </a:r>
            <a:r>
              <a:rPr lang="en-US" altLang="zh-TW" sz="1800" b="1"/>
              <a:t>(Connection)</a:t>
            </a:r>
          </a:p>
          <a:p>
            <a:r>
              <a:rPr lang="zh-TW" altLang="en-US" sz="1800" b="1"/>
              <a:t>發送請求 </a:t>
            </a:r>
            <a:r>
              <a:rPr lang="en-US" altLang="zh-TW" sz="1800" b="1"/>
              <a:t>(Request)</a:t>
            </a:r>
            <a:r>
              <a:rPr lang="zh-TW" altLang="en-US" sz="1800"/>
              <a:t>：</a:t>
            </a:r>
            <a:endParaRPr lang="en-US" altLang="zh-TW" sz="1800"/>
          </a:p>
          <a:p>
            <a:r>
              <a:rPr lang="zh-TW" altLang="en-US" sz="1800" b="1"/>
              <a:t>伺服器處理與回傳 </a:t>
            </a:r>
            <a:r>
              <a:rPr lang="en-US" altLang="zh-TW" sz="1800" b="1"/>
              <a:t>(Response)</a:t>
            </a:r>
            <a:r>
              <a:rPr lang="zh-TW" altLang="en-US" sz="1800"/>
              <a:t>：</a:t>
            </a:r>
          </a:p>
        </p:txBody>
      </p:sp>
      <p:pic>
        <p:nvPicPr>
          <p:cNvPr id="9" name="內容版面配置區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5817D4E9-A714-746F-6C1F-554B983B21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6" b="2520"/>
          <a:stretch>
            <a:fillRect/>
          </a:stretch>
        </p:blipFill>
        <p:spPr>
          <a:xfrm>
            <a:off x="4654295" y="2550003"/>
            <a:ext cx="5639886" cy="317245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194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4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Picture 36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57" name="Picture 38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58" name="Rectangle 40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59" name="Rectangle 42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61D969-827F-900C-515D-FE574B05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b="1"/>
              <a:t>關鍵 </a:t>
            </a:r>
            <a:r>
              <a:rPr lang="en-US" altLang="zh-TW" b="1"/>
              <a:t>HTTP </a:t>
            </a:r>
            <a:r>
              <a:rPr lang="zh-TW" altLang="en-US" b="1"/>
              <a:t>方法</a:t>
            </a:r>
            <a:endParaRPr lang="en-US" alt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578BAF-41AF-B5FD-BADA-3EBC33CA8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489341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1800" b="1" dirty="0"/>
              <a:t>GET</a:t>
            </a:r>
            <a:r>
              <a:rPr lang="zh-TW" altLang="en-US" sz="1800" dirty="0"/>
              <a:t>：讀取資源，參數接在 </a:t>
            </a:r>
            <a:r>
              <a:rPr lang="en-US" altLang="zh-TW" sz="1800" dirty="0"/>
              <a:t>URL </a:t>
            </a:r>
            <a:r>
              <a:rPr lang="zh-TW" altLang="en-US" sz="1800" dirty="0"/>
              <a:t>後面。</a:t>
            </a:r>
            <a:endParaRPr lang="en-US" altLang="zh-TW" sz="1800" dirty="0"/>
          </a:p>
          <a:p>
            <a:r>
              <a:rPr lang="en-US" altLang="zh-TW" sz="1800" dirty="0"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POST</a:t>
            </a:r>
            <a:r>
              <a:rPr lang="zh-TW" altLang="en-US" sz="1800" b="1" dirty="0"/>
              <a:t>：</a:t>
            </a:r>
            <a:r>
              <a:rPr lang="zh-TW" altLang="en-US" sz="1800" dirty="0"/>
              <a:t>新增或傳輸資料，參數放在 </a:t>
            </a:r>
            <a:r>
              <a:rPr lang="en-US" altLang="zh-TW" sz="1800" dirty="0"/>
              <a:t>Body </a:t>
            </a:r>
            <a:r>
              <a:rPr lang="zh-TW" altLang="en-US" sz="1800" dirty="0"/>
              <a:t>中，較安全。</a:t>
            </a:r>
          </a:p>
          <a:p>
            <a:r>
              <a:rPr lang="en-US" altLang="zh-TW" sz="1800" b="1" dirty="0"/>
              <a:t>PUT/PATCH</a:t>
            </a:r>
            <a:r>
              <a:rPr lang="zh-TW" altLang="en-US" sz="1800" dirty="0"/>
              <a:t>：更新資源。</a:t>
            </a:r>
          </a:p>
          <a:p>
            <a:r>
              <a:rPr lang="en-US" altLang="zh-TW" sz="1800" b="1" dirty="0"/>
              <a:t>Delete:</a:t>
            </a:r>
            <a:r>
              <a:rPr lang="zh-TW" altLang="en-US" sz="1800" b="1" dirty="0"/>
              <a:t>刪除資源</a:t>
            </a:r>
          </a:p>
        </p:txBody>
      </p:sp>
      <p:pic>
        <p:nvPicPr>
          <p:cNvPr id="9" name="內容版面配置區 4">
            <a:extLst>
              <a:ext uri="{FF2B5EF4-FFF2-40B4-BE49-F238E27FC236}">
                <a16:creationId xmlns:a16="http://schemas.microsoft.com/office/drawing/2014/main" id="{5FC5362A-1F31-105C-CFD1-AC65E9013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5" y="2514764"/>
            <a:ext cx="5639886" cy="3242934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950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0136F-6C5D-7F1D-0A00-7D259FDE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Response </a:t>
            </a:r>
            <a:r>
              <a:rPr lang="zh-TW" altLang="en-US" b="1" dirty="0"/>
              <a:t>常用狀態碼 </a:t>
            </a:r>
            <a:r>
              <a:rPr lang="en-US" altLang="zh-TW" b="1" dirty="0"/>
              <a:t>(Status Codes)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34E154-9613-278D-5570-F4955A715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1xx (</a:t>
            </a:r>
            <a:r>
              <a:rPr lang="zh-TW" altLang="en-US" b="1" dirty="0"/>
              <a:t>資訊</a:t>
            </a:r>
            <a:r>
              <a:rPr lang="en-US" altLang="zh-TW" b="1" dirty="0"/>
              <a:t>)</a:t>
            </a:r>
            <a:r>
              <a:rPr lang="zh-TW" altLang="en-US" dirty="0"/>
              <a:t>：收到請求，繼續處理。</a:t>
            </a:r>
          </a:p>
          <a:p>
            <a:r>
              <a:rPr lang="en-US" altLang="zh-TW" b="1" dirty="0"/>
              <a:t>2xx (</a:t>
            </a:r>
            <a:r>
              <a:rPr lang="zh-TW" altLang="en-US" b="1" dirty="0"/>
              <a:t>成功</a:t>
            </a:r>
            <a:r>
              <a:rPr lang="en-US" altLang="zh-TW" b="1" dirty="0"/>
              <a:t>)</a:t>
            </a:r>
            <a:r>
              <a:rPr lang="zh-TW" altLang="en-US" dirty="0"/>
              <a:t>：操作已成功接受。</a:t>
            </a:r>
          </a:p>
          <a:p>
            <a:r>
              <a:rPr lang="en-US" altLang="zh-TW" b="1" dirty="0"/>
              <a:t>3xx (</a:t>
            </a:r>
            <a:r>
              <a:rPr lang="zh-TW" altLang="en-US" b="1" dirty="0"/>
              <a:t>重定向</a:t>
            </a:r>
            <a:r>
              <a:rPr lang="en-US" altLang="zh-TW" b="1" dirty="0"/>
              <a:t>)</a:t>
            </a:r>
            <a:r>
              <a:rPr lang="zh-TW" altLang="en-US" dirty="0"/>
              <a:t>：需要進一步操作。</a:t>
            </a:r>
          </a:p>
          <a:p>
            <a:r>
              <a:rPr lang="en-US" altLang="zh-TW" b="1" dirty="0"/>
              <a:t>4xx (</a:t>
            </a:r>
            <a:r>
              <a:rPr lang="zh-TW" altLang="en-US" b="1" dirty="0"/>
              <a:t>用戶端錯誤</a:t>
            </a:r>
            <a:r>
              <a:rPr lang="en-US" altLang="zh-TW" b="1" dirty="0"/>
              <a:t>)</a:t>
            </a:r>
            <a:r>
              <a:rPr lang="zh-TW" altLang="en-US" dirty="0"/>
              <a:t>：請求有語法錯誤或無法完成。</a:t>
            </a:r>
          </a:p>
          <a:p>
            <a:r>
              <a:rPr lang="en-US" altLang="zh-TW" b="1" dirty="0"/>
              <a:t>5xx (</a:t>
            </a:r>
            <a:r>
              <a:rPr lang="zh-TW" altLang="en-US" b="1" dirty="0"/>
              <a:t>伺服器錯誤</a:t>
            </a:r>
            <a:r>
              <a:rPr lang="en-US" altLang="zh-TW" b="1" dirty="0"/>
              <a:t>)</a:t>
            </a:r>
            <a:r>
              <a:rPr lang="zh-TW" altLang="en-US" dirty="0"/>
              <a:t>：伺服器處理請求發生錯誤。</a:t>
            </a:r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8CFE9A-B6D5-C4A5-BA5A-D51704BB0A70}"/>
              </a:ext>
            </a:extLst>
          </p:cNvPr>
          <p:cNvSpPr txBox="1"/>
          <p:nvPr/>
        </p:nvSpPr>
        <p:spPr>
          <a:xfrm>
            <a:off x="896112" y="5181442"/>
            <a:ext cx="7296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FF00"/>
                </a:solidFill>
              </a:rPr>
              <a:t>PS:</a:t>
            </a:r>
          </a:p>
          <a:p>
            <a:r>
              <a:rPr lang="en-US" altLang="zh-TW" b="1" dirty="0">
                <a:solidFill>
                  <a:srgbClr val="FFFF00"/>
                </a:solidFill>
              </a:rPr>
              <a:t>HTTPS </a:t>
            </a:r>
            <a:r>
              <a:rPr lang="zh-TW" altLang="en-US" b="1" dirty="0">
                <a:solidFill>
                  <a:srgbClr val="FFFF00"/>
                </a:solidFill>
              </a:rPr>
              <a:t>是 </a:t>
            </a:r>
            <a:r>
              <a:rPr lang="en-US" altLang="zh-TW" b="1" dirty="0">
                <a:solidFill>
                  <a:srgbClr val="FFFF00"/>
                </a:solidFill>
              </a:rPr>
              <a:t>HTTP </a:t>
            </a:r>
            <a:r>
              <a:rPr lang="zh-TW" altLang="en-US" b="1" dirty="0">
                <a:solidFill>
                  <a:srgbClr val="FFFF00"/>
                </a:solidFill>
              </a:rPr>
              <a:t>的安全版本，在 </a:t>
            </a:r>
            <a:r>
              <a:rPr lang="en-US" altLang="zh-TW" b="1" dirty="0">
                <a:solidFill>
                  <a:srgbClr val="FFFF00"/>
                </a:solidFill>
              </a:rPr>
              <a:t>HTTP </a:t>
            </a:r>
            <a:r>
              <a:rPr lang="zh-TW" altLang="en-US" b="1" dirty="0">
                <a:solidFill>
                  <a:srgbClr val="FFFF00"/>
                </a:solidFill>
              </a:rPr>
              <a:t>下方加入了 </a:t>
            </a:r>
            <a:r>
              <a:rPr lang="en-US" altLang="zh-TW" b="1" dirty="0">
                <a:solidFill>
                  <a:srgbClr val="FFFF00"/>
                </a:solidFill>
              </a:rPr>
              <a:t>SSL/TLS </a:t>
            </a:r>
            <a:r>
              <a:rPr lang="zh-TW" altLang="en-US" b="1" dirty="0">
                <a:solidFill>
                  <a:srgbClr val="FFFF00"/>
                </a:solidFill>
              </a:rPr>
              <a:t>協定，確保資料在傳輸過程中進行加密和認證，避免遭竊取。</a:t>
            </a:r>
          </a:p>
        </p:txBody>
      </p:sp>
    </p:spTree>
    <p:extLst>
      <p:ext uri="{BB962C8B-B14F-4D97-AF65-F5344CB8AC3E}">
        <p14:creationId xmlns:p14="http://schemas.microsoft.com/office/powerpoint/2010/main" val="67460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CBA31F8-EA65-9192-B3CF-20D6593B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servlet</a:t>
            </a:r>
            <a:endParaRPr lang="en-US" alt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8510E1-8521-AEF9-8917-594DF9059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489341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1800" dirty="0"/>
              <a:t>Java</a:t>
            </a:r>
          </a:p>
          <a:p>
            <a:pPr lvl="1"/>
            <a:r>
              <a:rPr lang="zh-TW" altLang="en-US" sz="1800" dirty="0"/>
              <a:t>後端</a:t>
            </a:r>
            <a:r>
              <a:rPr lang="en-US" altLang="zh-TW" sz="1800" dirty="0"/>
              <a:t>web server(</a:t>
            </a:r>
            <a:r>
              <a:rPr lang="en-US" altLang="zh-TW" sz="1800" dirty="0" err="1"/>
              <a:t>tomcate</a:t>
            </a:r>
            <a:r>
              <a:rPr lang="en-US" altLang="zh-TW" sz="1800" dirty="0"/>
              <a:t>) </a:t>
            </a:r>
          </a:p>
          <a:p>
            <a:pPr lvl="1"/>
            <a:r>
              <a:rPr lang="zh-TW" altLang="en-US" sz="1800" dirty="0"/>
              <a:t>與前端 </a:t>
            </a:r>
            <a:r>
              <a:rPr lang="en-US" altLang="zh-TW" sz="1800" dirty="0"/>
              <a:t>UI(browser)</a:t>
            </a:r>
            <a:r>
              <a:rPr lang="zh-TW" altLang="en-US" sz="1800" dirty="0"/>
              <a:t>溝通的 </a:t>
            </a:r>
            <a:r>
              <a:rPr lang="en-US" altLang="zh-TW" sz="1800" dirty="0" err="1"/>
              <a:t>api</a:t>
            </a:r>
            <a:endParaRPr lang="en-US" altLang="zh-TW" sz="1800" dirty="0"/>
          </a:p>
          <a:p>
            <a:r>
              <a:rPr lang="en-US" altLang="zh-TW" sz="1800" dirty="0"/>
              <a:t>TCP/</a:t>
            </a:r>
            <a:r>
              <a:rPr lang="en-US" altLang="zh-TW" sz="1800" dirty="0" err="1"/>
              <a:t>ip</a:t>
            </a:r>
            <a:r>
              <a:rPr lang="zh-TW" altLang="en-US" sz="1800" dirty="0"/>
              <a:t>協定</a:t>
            </a:r>
            <a:endParaRPr lang="en-US" altLang="zh-TW" sz="1800" dirty="0"/>
          </a:p>
          <a:p>
            <a:pPr lvl="1"/>
            <a:r>
              <a:rPr lang="en-US" altLang="zh-TW" sz="1800" dirty="0"/>
              <a:t>Request-&gt;</a:t>
            </a:r>
            <a:r>
              <a:rPr lang="zh-TW" altLang="en-US" sz="1800" dirty="0"/>
              <a:t>前端送請求</a:t>
            </a:r>
            <a:endParaRPr lang="en-US" altLang="zh-TW" sz="1800" dirty="0"/>
          </a:p>
          <a:p>
            <a:pPr lvl="1"/>
            <a:r>
              <a:rPr lang="en-US" altLang="zh-TW" sz="1800" dirty="0"/>
              <a:t>Response-&gt;</a:t>
            </a:r>
            <a:r>
              <a:rPr lang="zh-TW" altLang="en-US" sz="1800" dirty="0"/>
              <a:t>後端作回應</a:t>
            </a:r>
            <a:endParaRPr lang="en-US" altLang="zh-TW" sz="1800" dirty="0"/>
          </a:p>
          <a:p>
            <a:r>
              <a:rPr lang="zh-TW" altLang="en-US" sz="1800" dirty="0"/>
              <a:t>擔任</a:t>
            </a:r>
            <a:r>
              <a:rPr lang="en-US" altLang="zh-TW" sz="1800" dirty="0"/>
              <a:t>UI</a:t>
            </a:r>
            <a:r>
              <a:rPr lang="zh-TW" altLang="en-US" sz="1800" dirty="0"/>
              <a:t>與資料庫中間的橋樑</a:t>
            </a:r>
            <a:endParaRPr lang="en-US" altLang="zh-TW" sz="1800" dirty="0"/>
          </a:p>
          <a:p>
            <a:r>
              <a:rPr lang="zh-TW" altLang="en-US" sz="1800" dirty="0"/>
              <a:t>接收前端經過檢查</a:t>
            </a:r>
            <a:r>
              <a:rPr lang="en-US" altLang="zh-TW" sz="1800" dirty="0"/>
              <a:t>,</a:t>
            </a:r>
            <a:r>
              <a:rPr lang="zh-TW" altLang="en-US" sz="1800" dirty="0"/>
              <a:t>計算</a:t>
            </a:r>
            <a:r>
              <a:rPr lang="en-US" altLang="zh-TW" sz="1800" dirty="0"/>
              <a:t>..</a:t>
            </a:r>
            <a:r>
              <a:rPr lang="zh-TW" altLang="en-US" sz="1800" dirty="0"/>
              <a:t>再將結果回覆給</a:t>
            </a:r>
            <a:r>
              <a:rPr lang="en-US" altLang="zh-TW" sz="1800" dirty="0"/>
              <a:t>UI</a:t>
            </a:r>
          </a:p>
          <a:p>
            <a:endParaRPr lang="en-US" altLang="zh-TW" sz="1800" dirty="0"/>
          </a:p>
          <a:p>
            <a:endParaRPr lang="en-US" altLang="zh-TW" sz="1800" dirty="0"/>
          </a:p>
        </p:txBody>
      </p:sp>
      <p:pic>
        <p:nvPicPr>
          <p:cNvPr id="15" name="內容版面配置區 14" descr="一張含有 文字, 螢幕擷取畫面, 圖表, 設計 的圖片&#10;&#10;自動產生的描述">
            <a:extLst>
              <a:ext uri="{FF2B5EF4-FFF2-40B4-BE49-F238E27FC236}">
                <a16:creationId xmlns:a16="http://schemas.microsoft.com/office/drawing/2014/main" id="{F0BDF724-AE2E-8023-BCB5-845C89364E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5" y="2550014"/>
            <a:ext cx="5639886" cy="3172435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54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7286D-A568-6FC1-F142-91BC2509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Servlet </a:t>
            </a:r>
            <a:r>
              <a:rPr lang="zh-TW" altLang="en-US" dirty="0"/>
              <a:t>物件生命週期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877511-9B3E-B8C9-3A94-39994AD2E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Init()</a:t>
            </a:r>
          </a:p>
          <a:p>
            <a:r>
              <a:rPr lang="en-US" altLang="zh-TW" dirty="0"/>
              <a:t>Service()</a:t>
            </a:r>
          </a:p>
          <a:p>
            <a:pPr lvl="1"/>
            <a:r>
              <a:rPr lang="en-US" altLang="zh-TW" dirty="0" err="1"/>
              <a:t>doGet</a:t>
            </a:r>
            <a:endParaRPr lang="en-US" altLang="zh-TW" dirty="0"/>
          </a:p>
          <a:p>
            <a:pPr lvl="1"/>
            <a:r>
              <a:rPr lang="en-US" altLang="zh-TW" dirty="0" err="1"/>
              <a:t>doPost</a:t>
            </a:r>
            <a:endParaRPr lang="en-US" altLang="zh-TW" dirty="0"/>
          </a:p>
          <a:p>
            <a:r>
              <a:rPr lang="en-US" altLang="zh-TW" dirty="0"/>
              <a:t>Destroy()</a:t>
            </a:r>
          </a:p>
          <a:p>
            <a:r>
              <a:rPr lang="en-US" altLang="zh-TW" dirty="0" err="1"/>
              <a:t>HttpServletRequest</a:t>
            </a:r>
            <a:endParaRPr lang="en-US" altLang="zh-TW" dirty="0"/>
          </a:p>
          <a:p>
            <a:r>
              <a:rPr lang="en-US" altLang="zh-TW" dirty="0" err="1"/>
              <a:t>HttpServletResponse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9" name="圖片 18" descr="一張含有 文字, 螢幕擷取畫面, 字型, 行 的圖片&#10;&#10;自動產生的描述">
            <a:extLst>
              <a:ext uri="{FF2B5EF4-FFF2-40B4-BE49-F238E27FC236}">
                <a16:creationId xmlns:a16="http://schemas.microsoft.com/office/drawing/2014/main" id="{437F4F3E-7AB9-51EE-AE87-1F1F90299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06119"/>
            <a:ext cx="4806931" cy="306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1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8BF6DA-A5E5-FD6E-F145-601DA6A3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Mysql</a:t>
            </a:r>
            <a:r>
              <a:rPr lang="en-US" altLang="zh-TW" dirty="0"/>
              <a:t> database Server 8.0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A8843D-6CBE-B5D4-B85C-180A9EBE5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Schema-&gt;</a:t>
            </a:r>
            <a:r>
              <a:rPr lang="zh-TW" altLang="en-US" dirty="0"/>
              <a:t>專案名</a:t>
            </a:r>
            <a:endParaRPr lang="en-US" altLang="zh-TW" dirty="0"/>
          </a:p>
          <a:p>
            <a:r>
              <a:rPr lang="en-US" altLang="zh-TW" dirty="0"/>
              <a:t>Table</a:t>
            </a:r>
          </a:p>
          <a:p>
            <a:r>
              <a:rPr lang="en-US" altLang="zh-TW" dirty="0"/>
              <a:t>Ex:</a:t>
            </a:r>
            <a:r>
              <a:rPr lang="zh-TW" altLang="en-US" dirty="0"/>
              <a:t>會員管理</a:t>
            </a:r>
            <a:endParaRPr lang="en-US" altLang="zh-TW" dirty="0"/>
          </a:p>
          <a:p>
            <a:pPr lvl="1"/>
            <a:r>
              <a:rPr lang="en-US" altLang="zh-TW" dirty="0"/>
              <a:t>Id</a:t>
            </a:r>
          </a:p>
          <a:p>
            <a:pPr lvl="1"/>
            <a:r>
              <a:rPr lang="en-US" altLang="zh-TW" dirty="0"/>
              <a:t>Name</a:t>
            </a:r>
          </a:p>
          <a:p>
            <a:pPr lvl="1"/>
            <a:r>
              <a:rPr lang="en-US" altLang="zh-TW" dirty="0"/>
              <a:t>Username</a:t>
            </a:r>
          </a:p>
          <a:p>
            <a:pPr lvl="1"/>
            <a:r>
              <a:rPr lang="en-US" altLang="zh-TW" dirty="0"/>
              <a:t>Password</a:t>
            </a:r>
          </a:p>
          <a:p>
            <a:pPr lvl="1"/>
            <a:r>
              <a:rPr lang="en-US" altLang="zh-TW" dirty="0"/>
              <a:t>Address</a:t>
            </a:r>
          </a:p>
          <a:p>
            <a:pPr lvl="1"/>
            <a:r>
              <a:rPr lang="en-US" altLang="zh-TW" dirty="0"/>
              <a:t>phone</a:t>
            </a:r>
          </a:p>
          <a:p>
            <a:pPr lvl="1"/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4EC9D047-ECA9-C6DF-D6B4-89B2804F17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8396380"/>
              </p:ext>
            </p:extLst>
          </p:nvPr>
        </p:nvGraphicFramePr>
        <p:xfrm>
          <a:off x="4123944" y="3429000"/>
          <a:ext cx="7095743" cy="1850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102">
                  <a:extLst>
                    <a:ext uri="{9D8B030D-6E8A-4147-A177-3AD203B41FA5}">
                      <a16:colId xmlns:a16="http://schemas.microsoft.com/office/drawing/2014/main" val="557319484"/>
                    </a:ext>
                  </a:extLst>
                </a:gridCol>
                <a:gridCol w="964991">
                  <a:extLst>
                    <a:ext uri="{9D8B030D-6E8A-4147-A177-3AD203B41FA5}">
                      <a16:colId xmlns:a16="http://schemas.microsoft.com/office/drawing/2014/main" val="568736007"/>
                    </a:ext>
                  </a:extLst>
                </a:gridCol>
                <a:gridCol w="1447486">
                  <a:extLst>
                    <a:ext uri="{9D8B030D-6E8A-4147-A177-3AD203B41FA5}">
                      <a16:colId xmlns:a16="http://schemas.microsoft.com/office/drawing/2014/main" val="2545540758"/>
                    </a:ext>
                  </a:extLst>
                </a:gridCol>
                <a:gridCol w="1395916">
                  <a:extLst>
                    <a:ext uri="{9D8B030D-6E8A-4147-A177-3AD203B41FA5}">
                      <a16:colId xmlns:a16="http://schemas.microsoft.com/office/drawing/2014/main" val="2049077944"/>
                    </a:ext>
                  </a:extLst>
                </a:gridCol>
                <a:gridCol w="1182624">
                  <a:extLst>
                    <a:ext uri="{9D8B030D-6E8A-4147-A177-3AD203B41FA5}">
                      <a16:colId xmlns:a16="http://schemas.microsoft.com/office/drawing/2014/main" val="1301581950"/>
                    </a:ext>
                  </a:extLst>
                </a:gridCol>
                <a:gridCol w="1182624">
                  <a:extLst>
                    <a:ext uri="{9D8B030D-6E8A-4147-A177-3AD203B41FA5}">
                      <a16:colId xmlns:a16="http://schemas.microsoft.com/office/drawing/2014/main" val="1736678510"/>
                    </a:ext>
                  </a:extLst>
                </a:gridCol>
              </a:tblGrid>
              <a:tr h="661323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username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pasword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phone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373596"/>
                  </a:ext>
                </a:extLst>
              </a:tr>
              <a:tr h="1089245">
                <a:tc>
                  <a:txBody>
                    <a:bodyPr/>
                    <a:lstStyle/>
                    <a:p>
                      <a:r>
                        <a:rPr lang="en-US" altLang="zh-TW" dirty="0"/>
                        <a:t>Int</a:t>
                      </a:r>
                    </a:p>
                    <a:p>
                      <a:r>
                        <a:rPr lang="en-US" altLang="zh-TW" dirty="0"/>
                        <a:t>Pk</a:t>
                      </a:r>
                    </a:p>
                    <a:p>
                      <a:r>
                        <a:rPr lang="en-US" altLang="zh-TW" dirty="0" err="1"/>
                        <a:t>Nn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ai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varchar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7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83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F76AC-63E7-2BE0-A9D3-ECB7CA4D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JDBC(Java </a:t>
            </a:r>
            <a:r>
              <a:rPr lang="en-US" altLang="zh-TW" dirty="0" err="1"/>
              <a:t>DataBase</a:t>
            </a:r>
            <a:r>
              <a:rPr lang="en-US" altLang="zh-TW" dirty="0"/>
              <a:t> Connection)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8D3FC-34B5-E51C-2A21-7D322EC500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backEnd</a:t>
            </a:r>
            <a:r>
              <a:rPr lang="zh-TW" altLang="en-US" dirty="0"/>
              <a:t>後端</a:t>
            </a:r>
            <a:endParaRPr lang="en-US" altLang="zh-TW" dirty="0"/>
          </a:p>
          <a:p>
            <a:r>
              <a:rPr lang="en-US" altLang="zh-TW" dirty="0" err="1"/>
              <a:t>Class.forName</a:t>
            </a:r>
            <a:endParaRPr lang="en-US" altLang="zh-TW" dirty="0"/>
          </a:p>
          <a:p>
            <a:r>
              <a:rPr lang="en-US" altLang="zh-TW" dirty="0"/>
              <a:t>Java.sql.*</a:t>
            </a:r>
          </a:p>
          <a:p>
            <a:r>
              <a:rPr lang="en-US" altLang="zh-TW" dirty="0" err="1"/>
              <a:t>DriverManager</a:t>
            </a:r>
            <a:endParaRPr lang="en-US" altLang="zh-TW" dirty="0"/>
          </a:p>
          <a:p>
            <a:r>
              <a:rPr lang="en-US" altLang="zh-TW" dirty="0"/>
              <a:t>SQL</a:t>
            </a:r>
          </a:p>
          <a:p>
            <a:r>
              <a:rPr lang="en-US" altLang="zh-TW" dirty="0"/>
              <a:t>Statement</a:t>
            </a:r>
          </a:p>
          <a:p>
            <a:r>
              <a:rPr lang="en-US" altLang="zh-TW" dirty="0" err="1"/>
              <a:t>PreparedStatement</a:t>
            </a:r>
            <a:endParaRPr lang="en-US" altLang="zh-TW" dirty="0"/>
          </a:p>
          <a:p>
            <a:r>
              <a:rPr lang="en-US" altLang="zh-TW" dirty="0" err="1"/>
              <a:t>ResultSet</a:t>
            </a:r>
            <a:endParaRPr lang="zh-TW" altLang="en-US" dirty="0"/>
          </a:p>
        </p:txBody>
      </p:sp>
      <p:pic>
        <p:nvPicPr>
          <p:cNvPr id="6" name="內容版面配置區 5" descr="一張含有 文字, 螢幕擷取畫面, 圖表 的圖片&#10;&#10;自動產生的描述">
            <a:extLst>
              <a:ext uri="{FF2B5EF4-FFF2-40B4-BE49-F238E27FC236}">
                <a16:creationId xmlns:a16="http://schemas.microsoft.com/office/drawing/2014/main" id="{849F62F5-B52B-3850-31FA-F5D04BEFD1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590" y="2336873"/>
            <a:ext cx="7087698" cy="3986829"/>
          </a:xfrm>
        </p:spPr>
      </p:pic>
    </p:spTree>
    <p:extLst>
      <p:ext uri="{BB962C8B-B14F-4D97-AF65-F5344CB8AC3E}">
        <p14:creationId xmlns:p14="http://schemas.microsoft.com/office/powerpoint/2010/main" val="306118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0DD69F-A62A-43E8-3620-6F45058C9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檢查是否有</a:t>
            </a:r>
            <a:r>
              <a:rPr lang="en-US" altLang="zh-TW" dirty="0"/>
              <a:t>database</a:t>
            </a:r>
            <a:r>
              <a:rPr lang="zh-TW" altLang="en-US" dirty="0"/>
              <a:t>廠商提供的</a:t>
            </a:r>
            <a:r>
              <a:rPr lang="en-US" altLang="zh-TW" dirty="0"/>
              <a:t>Driver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A6E84E-F462-6D43-0F52-A05442A48E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err="1"/>
              <a:t>Class.forName</a:t>
            </a:r>
            <a:endParaRPr lang="en-US" altLang="zh-TW" dirty="0"/>
          </a:p>
          <a:p>
            <a:r>
              <a:rPr lang="en-US" altLang="zh-TW" dirty="0" err="1"/>
              <a:t>Mysql</a:t>
            </a:r>
            <a:r>
              <a:rPr lang="en-US" altLang="zh-TW" dirty="0"/>
              <a:t> 8.0</a:t>
            </a:r>
          </a:p>
          <a:p>
            <a:r>
              <a:rPr lang="en-US" altLang="zh-TW" dirty="0" err="1"/>
              <a:t>com.mysql.cj.jdbc.Driver</a:t>
            </a:r>
            <a:endParaRPr lang="en-US" altLang="zh-TW" dirty="0"/>
          </a:p>
          <a:p>
            <a:r>
              <a:rPr lang="zh-TW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非常重要</a:t>
            </a:r>
          </a:p>
        </p:txBody>
      </p:sp>
      <p:pic>
        <p:nvPicPr>
          <p:cNvPr id="6" name="內容版面配置區 5" descr="一張含有 文字, 字型, 印刷術 的圖片&#10;&#10;自動產生的描述">
            <a:extLst>
              <a:ext uri="{FF2B5EF4-FFF2-40B4-BE49-F238E27FC236}">
                <a16:creationId xmlns:a16="http://schemas.microsoft.com/office/drawing/2014/main" id="{020BA80B-27C6-46DB-D89C-C978FB53B7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432" y="2451001"/>
            <a:ext cx="3848298" cy="806491"/>
          </a:xfrm>
        </p:spPr>
      </p:pic>
      <p:pic>
        <p:nvPicPr>
          <p:cNvPr id="8" name="圖片 7" descr="一張含有 文字, 螢幕擷取畫面, 行, 字型 的圖片&#10;&#10;自動產生的描述">
            <a:extLst>
              <a:ext uri="{FF2B5EF4-FFF2-40B4-BE49-F238E27FC236}">
                <a16:creationId xmlns:a16="http://schemas.microsoft.com/office/drawing/2014/main" id="{986FA762-9CDD-CC46-4666-7EB489B70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671" y="3874327"/>
            <a:ext cx="6001058" cy="9398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55E5523-6FA6-D59D-2B57-F231F52E6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20" y="5459914"/>
            <a:ext cx="10897160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1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F155D-440F-00D2-5550-C63CDE03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DriverManager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A2D0F0-2E37-2D9C-F163-0B1277755A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err="1"/>
              <a:t>getConnection</a:t>
            </a:r>
            <a:r>
              <a:rPr lang="zh-TW" altLang="en-US" dirty="0"/>
              <a:t>方法</a:t>
            </a:r>
            <a:endParaRPr lang="en-US" altLang="zh-TW" dirty="0"/>
          </a:p>
          <a:p>
            <a:r>
              <a:rPr lang="en-US" altLang="zh-TW" dirty="0"/>
              <a:t>url:</a:t>
            </a:r>
            <a:r>
              <a:rPr lang="zh-TW" altLang="en-US" dirty="0"/>
              <a:t>主機名</a:t>
            </a:r>
            <a:r>
              <a:rPr lang="en-US" altLang="zh-TW" dirty="0"/>
              <a:t>+schema</a:t>
            </a:r>
          </a:p>
          <a:p>
            <a:r>
              <a:rPr lang="en-US" altLang="zh-TW" dirty="0" err="1"/>
              <a:t>User:root</a:t>
            </a:r>
            <a:endParaRPr lang="en-US" altLang="zh-TW" dirty="0"/>
          </a:p>
          <a:p>
            <a:r>
              <a:rPr lang="en-US" altLang="zh-TW" dirty="0"/>
              <a:t>Password:</a:t>
            </a:r>
          </a:p>
          <a:p>
            <a:endParaRPr lang="zh-TW" altLang="en-US" dirty="0"/>
          </a:p>
        </p:txBody>
      </p:sp>
      <p:pic>
        <p:nvPicPr>
          <p:cNvPr id="6" name="內容版面配置區 5" descr="一張含有 文字, 螢幕擷取畫面, 鮮豔 的圖片&#10;&#10;自動產生的描述">
            <a:extLst>
              <a:ext uri="{FF2B5EF4-FFF2-40B4-BE49-F238E27FC236}">
                <a16:creationId xmlns:a16="http://schemas.microsoft.com/office/drawing/2014/main" id="{73301ACC-65CF-5E85-F1A9-5D7538628D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424" y="2401117"/>
            <a:ext cx="7346808" cy="3910763"/>
          </a:xfrm>
        </p:spPr>
      </p:pic>
    </p:spTree>
    <p:extLst>
      <p:ext uri="{BB962C8B-B14F-4D97-AF65-F5344CB8AC3E}">
        <p14:creationId xmlns:p14="http://schemas.microsoft.com/office/powerpoint/2010/main" val="1156910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2E1CF-4809-316F-5BE0-9DB984B1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Jdbc</a:t>
            </a:r>
            <a:r>
              <a:rPr lang="en-US" altLang="zh-TW" dirty="0"/>
              <a:t> connection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C97503-6053-445C-4E5A-90E089874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Connection</a:t>
            </a:r>
          </a:p>
          <a:p>
            <a:r>
              <a:rPr lang="en-US" altLang="zh-TW" dirty="0"/>
              <a:t>Java API</a:t>
            </a:r>
          </a:p>
          <a:p>
            <a:r>
              <a:rPr lang="en-US" altLang="zh-TW" dirty="0"/>
              <a:t>Java.sql.*</a:t>
            </a:r>
          </a:p>
          <a:p>
            <a:r>
              <a:rPr lang="en-US" altLang="zh-TW" dirty="0" err="1"/>
              <a:t>Sql</a:t>
            </a:r>
            <a:r>
              <a:rPr lang="zh-TW" altLang="en-US" dirty="0"/>
              <a:t>語法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內容版面配置區 5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EB13951C-D5A4-D0D0-5ACB-BFE7BFCC6A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909" y="2505456"/>
            <a:ext cx="6653595" cy="3599316"/>
          </a:xfrm>
        </p:spPr>
      </p:pic>
    </p:spTree>
    <p:extLst>
      <p:ext uri="{BB962C8B-B14F-4D97-AF65-F5344CB8AC3E}">
        <p14:creationId xmlns:p14="http://schemas.microsoft.com/office/powerpoint/2010/main" val="278903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873BF-591F-0FFD-1351-BF744E67B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Jdbc</a:t>
            </a:r>
            <a:r>
              <a:rPr lang="en-US" altLang="zh-TW" dirty="0"/>
              <a:t> API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BB7B64-684C-C08A-DB48-C24E32965D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err="1"/>
              <a:t>Java.sql</a:t>
            </a:r>
            <a:r>
              <a:rPr lang="en-US" altLang="zh-TW" dirty="0"/>
              <a:t>.</a:t>
            </a:r>
            <a:r>
              <a:rPr lang="zh-TW" altLang="en-US" dirty="0"/>
              <a:t>*</a:t>
            </a:r>
            <a:endParaRPr lang="en-US" altLang="zh-TW" dirty="0"/>
          </a:p>
          <a:p>
            <a:r>
              <a:rPr lang="en-US" altLang="zh-TW" dirty="0"/>
              <a:t>Connection</a:t>
            </a:r>
          </a:p>
          <a:p>
            <a:r>
              <a:rPr lang="en-US" altLang="zh-TW" dirty="0"/>
              <a:t>Statement</a:t>
            </a:r>
          </a:p>
          <a:p>
            <a:r>
              <a:rPr lang="en-US" altLang="zh-TW" dirty="0" err="1"/>
              <a:t>preparedStatement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內容版面配置區 5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48EF7B6C-E6FF-691C-1F1C-ACB86E09C9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678" y="2090058"/>
            <a:ext cx="4308510" cy="4332514"/>
          </a:xfrm>
        </p:spPr>
      </p:pic>
    </p:spTree>
    <p:extLst>
      <p:ext uri="{BB962C8B-B14F-4D97-AF65-F5344CB8AC3E}">
        <p14:creationId xmlns:p14="http://schemas.microsoft.com/office/powerpoint/2010/main" val="2640186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18D2B-27F2-913E-B1BF-3E4BF018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Statement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DBC151-02E0-565D-29D9-B8BCFBD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Ex:</a:t>
            </a:r>
          </a:p>
          <a:p>
            <a:pPr lvl="1"/>
            <a:r>
              <a:rPr lang="en-US" altLang="zh-TW" dirty="0"/>
              <a:t>Insert into table() values()</a:t>
            </a:r>
          </a:p>
          <a:p>
            <a:r>
              <a:rPr lang="en-US" altLang="zh-TW" dirty="0" err="1"/>
              <a:t>DriverManager</a:t>
            </a:r>
            <a:endParaRPr lang="en-US" altLang="zh-TW" dirty="0"/>
          </a:p>
          <a:p>
            <a:r>
              <a:rPr lang="en-US" altLang="zh-TW" dirty="0"/>
              <a:t>Connection</a:t>
            </a:r>
          </a:p>
          <a:p>
            <a:r>
              <a:rPr lang="en-US" altLang="zh-TW" dirty="0"/>
              <a:t>Statement</a:t>
            </a:r>
          </a:p>
          <a:p>
            <a:r>
              <a:rPr lang="en-US" altLang="zh-TW" dirty="0" err="1"/>
              <a:t>executeUpdate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9" name="圖片 8" descr="一張含有 文字, 字型, 螢幕擷取畫面, 白色 的圖片&#10;&#10;自動產生的描述">
            <a:extLst>
              <a:ext uri="{FF2B5EF4-FFF2-40B4-BE49-F238E27FC236}">
                <a16:creationId xmlns:a16="http://schemas.microsoft.com/office/drawing/2014/main" id="{54777B80-A411-3C28-C9C0-E870138B9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438" y="3429000"/>
            <a:ext cx="6532756" cy="155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4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2AF97-BA00-495E-DAB2-0E6EA868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PreparedStatement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77D866-1B2C-314E-2D7A-D1B63E8CC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Ex:</a:t>
            </a:r>
          </a:p>
          <a:p>
            <a:pPr lvl="1"/>
            <a:r>
              <a:rPr lang="en-US" altLang="zh-TW" dirty="0"/>
              <a:t>Insert into table(</a:t>
            </a:r>
            <a:r>
              <a:rPr lang="en-US" altLang="zh-TW" dirty="0" err="1"/>
              <a:t>name,username,password</a:t>
            </a:r>
            <a:r>
              <a:rPr lang="en-US" altLang="zh-TW" dirty="0"/>
              <a:t>) values(?,?,?)</a:t>
            </a:r>
          </a:p>
          <a:p>
            <a:r>
              <a:rPr lang="en-US" altLang="zh-TW" dirty="0" err="1"/>
              <a:t>DriverManager</a:t>
            </a:r>
            <a:endParaRPr lang="en-US" altLang="zh-TW" dirty="0"/>
          </a:p>
          <a:p>
            <a:r>
              <a:rPr lang="en-US" altLang="zh-TW" dirty="0"/>
              <a:t>Connection</a:t>
            </a:r>
          </a:p>
          <a:p>
            <a:r>
              <a:rPr lang="en-US" altLang="zh-TW" dirty="0" err="1"/>
              <a:t>PreparedStatement</a:t>
            </a:r>
            <a:endParaRPr lang="en-US" altLang="zh-TW" dirty="0"/>
          </a:p>
          <a:p>
            <a:r>
              <a:rPr lang="en-US" altLang="zh-TW" dirty="0" err="1"/>
              <a:t>executeUpdate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5" name="圖片 4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DE875C91-77BB-2A2A-B4B5-12C556473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36" y="3979815"/>
            <a:ext cx="7021357" cy="164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C1433C-4EA9-7C3C-2F64-9F3FE0201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SQL CRUD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C8D25B-004F-FD54-D760-CD9ABEAE18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Create </a:t>
            </a:r>
          </a:p>
          <a:p>
            <a:r>
              <a:rPr lang="en-US" altLang="zh-TW" dirty="0"/>
              <a:t>Read</a:t>
            </a:r>
          </a:p>
          <a:p>
            <a:r>
              <a:rPr lang="en-US" altLang="zh-TW" dirty="0"/>
              <a:t>Update</a:t>
            </a:r>
          </a:p>
          <a:p>
            <a:r>
              <a:rPr lang="en-US" altLang="zh-TW" dirty="0"/>
              <a:t>Delete</a:t>
            </a:r>
            <a:endParaRPr lang="zh-TW" altLang="en-US" dirty="0"/>
          </a:p>
        </p:txBody>
      </p:sp>
      <p:pic>
        <p:nvPicPr>
          <p:cNvPr id="6" name="內容版面配置區 5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A2F82F44-2223-2CA8-66A4-7584E09994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855" y="2505207"/>
            <a:ext cx="6525296" cy="3262648"/>
          </a:xfrm>
        </p:spPr>
      </p:pic>
    </p:spTree>
    <p:extLst>
      <p:ext uri="{BB962C8B-B14F-4D97-AF65-F5344CB8AC3E}">
        <p14:creationId xmlns:p14="http://schemas.microsoft.com/office/powerpoint/2010/main" val="1130603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A48DE7-F817-8AA3-3C12-D8539658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PreparedStatement</a:t>
            </a:r>
            <a:r>
              <a:rPr lang="en-US" altLang="zh-TW" dirty="0"/>
              <a:t>-create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A44A12B-6776-2178-05D7-01DDAC71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endParaRPr lang="en-US" altLang="zh-TW" dirty="0"/>
          </a:p>
          <a:p>
            <a:r>
              <a:rPr lang="en-US" altLang="zh-TW" dirty="0"/>
              <a:t>Insert into </a:t>
            </a:r>
            <a:r>
              <a:rPr lang="zh-TW" altLang="en-US" dirty="0"/>
              <a:t>表格</a:t>
            </a:r>
            <a:r>
              <a:rPr lang="en-US" altLang="zh-TW" dirty="0"/>
              <a:t>(</a:t>
            </a:r>
            <a:r>
              <a:rPr lang="zh-TW" altLang="en-US" dirty="0"/>
              <a:t>欄位</a:t>
            </a:r>
            <a:r>
              <a:rPr lang="en-US" altLang="zh-TW" dirty="0"/>
              <a:t>1,</a:t>
            </a:r>
            <a:r>
              <a:rPr lang="zh-TW" altLang="en-US" dirty="0"/>
              <a:t>欄位</a:t>
            </a:r>
            <a:r>
              <a:rPr lang="en-US" altLang="zh-TW" dirty="0"/>
              <a:t>2..) values(?,?..)</a:t>
            </a:r>
          </a:p>
          <a:p>
            <a:r>
              <a:rPr lang="en-US" altLang="zh-TW" dirty="0"/>
              <a:t>Set</a:t>
            </a:r>
            <a:r>
              <a:rPr lang="zh-TW" altLang="en-US" dirty="0"/>
              <a:t>類型</a:t>
            </a:r>
            <a:r>
              <a:rPr lang="en-US" altLang="zh-TW" dirty="0"/>
              <a:t> (</a:t>
            </a:r>
            <a:r>
              <a:rPr lang="zh-TW" altLang="en-US" dirty="0"/>
              <a:t>索引</a:t>
            </a:r>
            <a:r>
              <a:rPr lang="en-US" altLang="zh-TW" dirty="0"/>
              <a:t>,</a:t>
            </a:r>
            <a:r>
              <a:rPr lang="zh-TW" altLang="en-US" dirty="0"/>
              <a:t>值</a:t>
            </a:r>
            <a:r>
              <a:rPr lang="en-US" altLang="zh-TW" dirty="0"/>
              <a:t>).</a:t>
            </a:r>
          </a:p>
          <a:p>
            <a:r>
              <a:rPr lang="en-US" altLang="zh-TW" dirty="0" err="1"/>
              <a:t>excuteUpdate</a:t>
            </a:r>
            <a:r>
              <a:rPr lang="en-US" altLang="zh-TW" dirty="0"/>
              <a:t>();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3290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82D38D-F497-EBFC-417C-84F24C19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Preparedstatement</a:t>
            </a:r>
            <a:r>
              <a:rPr lang="en-US" altLang="zh-TW" dirty="0"/>
              <a:t>-read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585BF0-2C31-FEF6-CE01-B4B37D893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Select  * from </a:t>
            </a:r>
            <a:r>
              <a:rPr lang="zh-TW" altLang="en-US" dirty="0"/>
              <a:t>表格</a:t>
            </a:r>
            <a:endParaRPr lang="en-US" altLang="zh-TW" dirty="0"/>
          </a:p>
          <a:p>
            <a:r>
              <a:rPr lang="en-US" altLang="zh-TW" dirty="0"/>
              <a:t>Select * from </a:t>
            </a:r>
            <a:r>
              <a:rPr lang="zh-TW" altLang="en-US" dirty="0"/>
              <a:t>表格 </a:t>
            </a:r>
            <a:r>
              <a:rPr lang="en-US" altLang="zh-TW" dirty="0"/>
              <a:t>where </a:t>
            </a:r>
            <a:r>
              <a:rPr lang="zh-TW" altLang="en-US" dirty="0"/>
              <a:t>條件</a:t>
            </a:r>
            <a:r>
              <a:rPr lang="en-US" altLang="zh-TW" dirty="0"/>
              <a:t>=?</a:t>
            </a:r>
          </a:p>
          <a:p>
            <a:r>
              <a:rPr lang="en-US" altLang="zh-TW" dirty="0"/>
              <a:t>set</a:t>
            </a:r>
            <a:r>
              <a:rPr lang="zh-TW" altLang="en-US" dirty="0"/>
              <a:t>類型</a:t>
            </a:r>
            <a:r>
              <a:rPr lang="en-US" altLang="zh-TW" dirty="0"/>
              <a:t>(</a:t>
            </a:r>
            <a:r>
              <a:rPr lang="zh-TW" altLang="en-US" dirty="0"/>
              <a:t>索引</a:t>
            </a:r>
            <a:r>
              <a:rPr lang="en-US" altLang="zh-TW" dirty="0"/>
              <a:t>,</a:t>
            </a:r>
            <a:r>
              <a:rPr lang="zh-TW" altLang="en-US" dirty="0"/>
              <a:t>值</a:t>
            </a:r>
            <a:r>
              <a:rPr lang="en-US" altLang="zh-TW" dirty="0"/>
              <a:t>);</a:t>
            </a:r>
          </a:p>
          <a:p>
            <a:r>
              <a:rPr lang="en-US" altLang="zh-TW" dirty="0" err="1"/>
              <a:t>excuteQuery</a:t>
            </a:r>
            <a:r>
              <a:rPr lang="en-US" altLang="zh-TW" dirty="0"/>
              <a:t>()</a:t>
            </a:r>
            <a:r>
              <a:rPr lang="zh-TW" altLang="en-US" dirty="0"/>
              <a:t>方法</a:t>
            </a:r>
            <a:endParaRPr lang="en-US" altLang="zh-TW" dirty="0"/>
          </a:p>
          <a:p>
            <a:r>
              <a:rPr lang="zh-TW" altLang="en-US" dirty="0"/>
              <a:t>搭配 </a:t>
            </a:r>
            <a:r>
              <a:rPr lang="en-US" altLang="zh-TW" dirty="0" err="1"/>
              <a:t>ResultSet</a:t>
            </a:r>
            <a:endParaRPr lang="en-US" altLang="zh-TW" dirty="0"/>
          </a:p>
          <a:p>
            <a:pPr lvl="1"/>
            <a:r>
              <a:rPr lang="en-US" altLang="zh-TW" dirty="0"/>
              <a:t>next()</a:t>
            </a:r>
          </a:p>
          <a:p>
            <a:pPr lvl="1"/>
            <a:r>
              <a:rPr lang="en-US" altLang="zh-TW" dirty="0"/>
              <a:t>get</a:t>
            </a:r>
            <a:r>
              <a:rPr lang="zh-TW" altLang="en-US" dirty="0"/>
              <a:t>類型</a:t>
            </a:r>
            <a:r>
              <a:rPr lang="en-US" altLang="zh-TW" dirty="0"/>
              <a:t>(“</a:t>
            </a:r>
            <a:r>
              <a:rPr lang="zh-TW" altLang="en-US" dirty="0"/>
              <a:t>欄位</a:t>
            </a:r>
            <a:r>
              <a:rPr lang="en-US" altLang="zh-TW" dirty="0"/>
              <a:t>”)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8047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F0A15-6FBC-7630-B609-D9922ED9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Preparedstatement</a:t>
            </a:r>
            <a:r>
              <a:rPr lang="en-US" altLang="zh-TW" dirty="0"/>
              <a:t>-update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844A64-667E-291B-9A11-CFFC40E4E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endParaRPr lang="en-US" altLang="zh-TW" dirty="0"/>
          </a:p>
          <a:p>
            <a:r>
              <a:rPr lang="en-US" altLang="zh-TW" dirty="0"/>
              <a:t>Update </a:t>
            </a:r>
            <a:r>
              <a:rPr lang="zh-TW" altLang="en-US" dirty="0"/>
              <a:t>表格 </a:t>
            </a:r>
            <a:r>
              <a:rPr lang="en-US" altLang="zh-TW" dirty="0"/>
              <a:t>set </a:t>
            </a:r>
            <a:r>
              <a:rPr lang="zh-TW" altLang="en-US" dirty="0"/>
              <a:t>欄位</a:t>
            </a:r>
            <a:r>
              <a:rPr lang="en-US" altLang="zh-TW" dirty="0"/>
              <a:t>=?,….where id=?</a:t>
            </a:r>
          </a:p>
          <a:p>
            <a:r>
              <a:rPr lang="en-US" altLang="zh-TW" dirty="0"/>
              <a:t>Set</a:t>
            </a:r>
            <a:r>
              <a:rPr lang="zh-TW" altLang="en-US" dirty="0"/>
              <a:t>類型</a:t>
            </a:r>
            <a:r>
              <a:rPr lang="en-US" altLang="zh-TW" dirty="0"/>
              <a:t>(</a:t>
            </a:r>
            <a:r>
              <a:rPr lang="zh-TW" altLang="en-US" dirty="0"/>
              <a:t>索引</a:t>
            </a:r>
            <a:r>
              <a:rPr lang="en-US" altLang="zh-TW" dirty="0"/>
              <a:t>,</a:t>
            </a:r>
            <a:r>
              <a:rPr lang="zh-TW" altLang="en-US" dirty="0"/>
              <a:t>值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excuteUpdate</a:t>
            </a:r>
            <a:r>
              <a:rPr lang="en-US" altLang="zh-TW" dirty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9750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C6DF14-7D6F-10A9-F5D8-B96D8CFF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PreparedStatement</a:t>
            </a:r>
            <a:r>
              <a:rPr lang="en-US" altLang="zh-TW" dirty="0"/>
              <a:t>-delete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200B79-9B4B-048F-8B07-BA8CE943C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Delete from </a:t>
            </a:r>
            <a:r>
              <a:rPr lang="zh-TW" altLang="en-US" dirty="0"/>
              <a:t>表 </a:t>
            </a:r>
            <a:r>
              <a:rPr lang="en-US" altLang="zh-TW" dirty="0"/>
              <a:t>where </a:t>
            </a:r>
            <a:r>
              <a:rPr lang="zh-TW" altLang="en-US" dirty="0"/>
              <a:t>條件</a:t>
            </a:r>
            <a:r>
              <a:rPr lang="en-US" altLang="zh-TW" dirty="0"/>
              <a:t>=?</a:t>
            </a:r>
          </a:p>
          <a:p>
            <a:r>
              <a:rPr lang="en-US" altLang="zh-TW" dirty="0"/>
              <a:t>Set</a:t>
            </a:r>
            <a:r>
              <a:rPr lang="zh-TW" altLang="en-US" dirty="0"/>
              <a:t>類型</a:t>
            </a:r>
            <a:r>
              <a:rPr lang="en-US" altLang="zh-TW" dirty="0"/>
              <a:t>(</a:t>
            </a:r>
            <a:r>
              <a:rPr lang="zh-TW" altLang="en-US" dirty="0"/>
              <a:t>索引</a:t>
            </a:r>
            <a:r>
              <a:rPr lang="en-US" altLang="zh-TW" dirty="0"/>
              <a:t>,</a:t>
            </a:r>
            <a:r>
              <a:rPr lang="zh-TW" altLang="en-US" dirty="0"/>
              <a:t>值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executeUpdate</a:t>
            </a:r>
            <a:r>
              <a:rPr lang="en-US" altLang="zh-TW" dirty="0"/>
              <a:t>();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7248590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132</TotalTime>
  <Words>448</Words>
  <Application>Microsoft Office PowerPoint</Application>
  <PresentationFormat>寬螢幕</PresentationFormat>
  <Paragraphs>134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新細明體</vt:lpstr>
      <vt:lpstr>Arial</vt:lpstr>
      <vt:lpstr>Trebuchet MS</vt:lpstr>
      <vt:lpstr>柏林</vt:lpstr>
      <vt:lpstr>Java EE Application 1z0-900</vt:lpstr>
      <vt:lpstr>Web server使用 Http協定傳送與接收的方式</vt:lpstr>
      <vt:lpstr>關鍵 HTTP 方法</vt:lpstr>
      <vt:lpstr>Response 常用狀態碼 (Status Codes)</vt:lpstr>
      <vt:lpstr>servlet</vt:lpstr>
      <vt:lpstr>Servlet 物件生命週期</vt:lpstr>
      <vt:lpstr>Mysql database Server 8.0</vt:lpstr>
      <vt:lpstr>JDBC(Java DataBase Connection)</vt:lpstr>
      <vt:lpstr>檢查是否有database廠商提供的Driver</vt:lpstr>
      <vt:lpstr>DriverManager</vt:lpstr>
      <vt:lpstr>Jdbc connection</vt:lpstr>
      <vt:lpstr>Jdbc API</vt:lpstr>
      <vt:lpstr>Statement</vt:lpstr>
      <vt:lpstr>PreparedStatement</vt:lpstr>
      <vt:lpstr>SQL CRUD</vt:lpstr>
      <vt:lpstr>PreparedStatement-create</vt:lpstr>
      <vt:lpstr>Preparedstatement-read</vt:lpstr>
      <vt:lpstr>Preparedstatement-update</vt:lpstr>
      <vt:lpstr>PreparedStatement-delete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EE Application 1z0-900</dc:title>
  <dc:creator>allen chan</dc:creator>
  <cp:lastModifiedBy>student</cp:lastModifiedBy>
  <cp:revision>12</cp:revision>
  <dcterms:created xsi:type="dcterms:W3CDTF">2024-11-29T16:02:22Z</dcterms:created>
  <dcterms:modified xsi:type="dcterms:W3CDTF">2026-04-10T10:38:15Z</dcterms:modified>
</cp:coreProperties>
</file>